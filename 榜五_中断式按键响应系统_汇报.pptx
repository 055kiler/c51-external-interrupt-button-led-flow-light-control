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51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3800" b="0">
                <a:solidFill>
                  <a:srgbClr val="1A1A1A"/>
                </a:solidFill>
                <a:latin typeface="微软雅黑"/>
              </a:rPr>
              <a:t>基于 51 单片机的中断式按键响应系统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555555"/>
                </a:solidFill>
                <a:latin typeface="微软雅黑"/>
              </a:rPr>
              <a:t>Proteus 仿真与 Keil C51 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474720"/>
            <a:ext cx="2926080" cy="31750"/>
          </a:xfrm>
          <a:prstGeom prst="rect">
            <a:avLst/>
          </a:prstGeom>
          <a:solidFill>
            <a:srgbClr val="A03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8813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1A1A1A"/>
                </a:solidFill>
                <a:latin typeface="微软雅黑"/>
              </a:rPr>
              <a:t>设计思路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500" b="0">
                <a:solidFill>
                  <a:srgbClr val="555555"/>
                </a:solidFill>
                <a:latin typeface="微软雅黑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203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389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900" b="0" dirty="0" err="1">
                <a:solidFill>
                  <a:srgbClr val="1A1A1A"/>
                </a:solidFill>
                <a:latin typeface="微软雅黑"/>
              </a:rPr>
              <a:t>程序分为两部分,职责分开</a:t>
            </a:r>
            <a:r>
              <a:rPr sz="1900" b="0" dirty="0">
                <a:solidFill>
                  <a:srgbClr val="1A1A1A"/>
                </a:solidFill>
                <a:latin typeface="微软雅黑"/>
              </a:rPr>
              <a:t>:</a:t>
            </a:r>
          </a:p>
          <a:p>
            <a:pPr algn="l">
              <a:lnSpc>
                <a:spcPct val="145000"/>
              </a:lnSpc>
            </a:pPr>
            <a:r>
              <a:rPr sz="1900" b="0" dirty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900" b="0" dirty="0">
                <a:solidFill>
                  <a:srgbClr val="1A1A1A"/>
                </a:solidFill>
                <a:latin typeface="微软雅黑"/>
              </a:rPr>
              <a:t>● </a:t>
            </a:r>
            <a:r>
              <a:rPr sz="1900" b="0" dirty="0" err="1">
                <a:solidFill>
                  <a:srgbClr val="1A1A1A"/>
                </a:solidFill>
                <a:latin typeface="微软雅黑"/>
              </a:rPr>
              <a:t>主循环:完成移位与输出,负责实际的显示动作</a:t>
            </a:r>
            <a:r>
              <a:rPr sz="1900" b="0" dirty="0">
                <a:solidFill>
                  <a:srgbClr val="1A1A1A"/>
                </a:solidFill>
                <a:latin typeface="微软雅黑"/>
              </a:rPr>
              <a:t>;</a:t>
            </a:r>
          </a:p>
          <a:p>
            <a:pPr algn="l">
              <a:lnSpc>
                <a:spcPct val="145000"/>
              </a:lnSpc>
            </a:pPr>
            <a:r>
              <a:rPr sz="1900" b="0" dirty="0">
                <a:solidFill>
                  <a:srgbClr val="1A1A1A"/>
                </a:solidFill>
                <a:latin typeface="微软雅黑"/>
              </a:rPr>
              <a:t>● </a:t>
            </a:r>
            <a:r>
              <a:rPr sz="1900" b="0" dirty="0" err="1">
                <a:solidFill>
                  <a:srgbClr val="1A1A1A"/>
                </a:solidFill>
                <a:latin typeface="微软雅黑"/>
              </a:rPr>
              <a:t>中断服务程序:只修改状态标志,不直接操作输出端口</a:t>
            </a:r>
            <a:r>
              <a:rPr sz="1900" b="0" dirty="0">
                <a:solidFill>
                  <a:srgbClr val="1A1A1A"/>
                </a:solidFill>
                <a:latin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900" b="0" dirty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900" b="0" dirty="0" err="1">
                <a:solidFill>
                  <a:srgbClr val="1A1A1A"/>
                </a:solidFill>
                <a:latin typeface="微软雅黑"/>
              </a:rPr>
              <a:t>两部分通过两个全局变量传递状态:dir</a:t>
            </a:r>
            <a:r>
              <a:rPr sz="1900" b="0" dirty="0">
                <a:solidFill>
                  <a:srgbClr val="1A1A1A"/>
                </a:solidFill>
                <a:latin typeface="微软雅黑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微软雅黑"/>
              </a:rPr>
              <a:t>表示方向,speed</a:t>
            </a:r>
            <a:r>
              <a:rPr sz="1900" b="0" dirty="0">
                <a:solidFill>
                  <a:srgbClr val="1A1A1A"/>
                </a:solidFill>
                <a:latin typeface="微软雅黑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微软雅黑"/>
              </a:rPr>
              <a:t>表示速度档位</a:t>
            </a:r>
            <a:r>
              <a:rPr sz="1900" b="0" dirty="0">
                <a:solidFill>
                  <a:srgbClr val="1A1A1A"/>
                </a:solidFill>
                <a:latin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900" b="0" dirty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900" b="1" dirty="0">
                <a:solidFill>
                  <a:srgbClr val="A03020"/>
                </a:solidFill>
                <a:latin typeface="微软雅黑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8813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dirty="0" err="1">
                <a:solidFill>
                  <a:srgbClr val="1A1A1A"/>
                </a:solidFill>
                <a:latin typeface="微软雅黑"/>
              </a:rPr>
              <a:t>头文件、变量与延时函数</a:t>
            </a:r>
            <a:endParaRPr sz="2800" b="0" dirty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500" b="0">
                <a:solidFill>
                  <a:srgbClr val="555555"/>
                </a:solidFill>
                <a:latin typeface="微软雅黑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203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d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5486400" cy="3462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0" y="1051560"/>
            <a:ext cx="5669280" cy="5577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第 1~2 行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reg51.h 提供寄存器定义;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intrins.h 提供 _nop_、_crol_、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_cror_ 三个函数。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第 3~4 行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用 sbit 为 P3.2、P3.3 定义别名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K1、K2,便于引用。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第 5~7 行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DELAY_TAB 存放三档延时参数,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置于 code 区,不占用片内 RAM。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dir 记录方向,speed 记录档位,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由中断与主程序共用。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第 8~15 行 delay1ms()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提供约 1 毫秒延时。12MHz 下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每个机器周期 1 微秒,循环共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执行 1000 次空操作。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8813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dirty="0" err="1">
                <a:solidFill>
                  <a:srgbClr val="1A1A1A"/>
                </a:solidFill>
                <a:latin typeface="微软雅黑"/>
              </a:rPr>
              <a:t>速度档位的实现</a:t>
            </a:r>
            <a:endParaRPr sz="2800" b="0" dirty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500" b="0">
                <a:solidFill>
                  <a:srgbClr val="555555"/>
                </a:solidFill>
                <a:latin typeface="微软雅黑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203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700" b="0" dirty="0">
                <a:solidFill>
                  <a:srgbClr val="1A1A1A"/>
                </a:solidFill>
                <a:latin typeface="微软雅黑"/>
              </a:rPr>
              <a:t>unsigned char code DELAY_TAB[3] = {200, 120, 50};</a:t>
            </a:r>
          </a:p>
          <a:p>
            <a:pPr algn="l">
              <a:lnSpc>
                <a:spcPct val="135000"/>
              </a:lnSpc>
            </a:pPr>
            <a:r>
              <a:rPr sz="1700" b="0" dirty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700" b="0" dirty="0">
                <a:solidFill>
                  <a:srgbClr val="1A1A1A"/>
                </a:solidFill>
                <a:latin typeface="微软雅黑"/>
              </a:rPr>
              <a:t>● 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该数组作为延时参数表,下标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 0 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对应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 200,1 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对应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 120,2 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对应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 50。</a:t>
            </a:r>
          </a:p>
          <a:p>
            <a:pPr algn="l">
              <a:lnSpc>
                <a:spcPct val="135000"/>
              </a:lnSpc>
            </a:pPr>
            <a:r>
              <a:rPr sz="1700" b="0" dirty="0">
                <a:solidFill>
                  <a:srgbClr val="1A1A1A"/>
                </a:solidFill>
                <a:latin typeface="微软雅黑"/>
              </a:rPr>
              <a:t>● 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参数值越大,空循环次数越多,移位间隔越长,流水速度越慢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。</a:t>
            </a:r>
          </a:p>
          <a:p>
            <a:pPr algn="l">
              <a:lnSpc>
                <a:spcPct val="135000"/>
              </a:lnSpc>
            </a:pPr>
            <a:r>
              <a:rPr sz="1700" b="0" dirty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700" b="0" dirty="0" err="1">
                <a:solidFill>
                  <a:srgbClr val="1A1A1A"/>
                </a:solidFill>
                <a:latin typeface="微软雅黑"/>
              </a:rPr>
              <a:t>delay_speed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() 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中的循环条件直接引用该表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700" b="0" dirty="0">
                <a:solidFill>
                  <a:srgbClr val="1A1A1A"/>
                </a:solidFill>
                <a:latin typeface="微软雅黑"/>
              </a:rPr>
              <a:t>      for (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i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 = 0; 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i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 &lt; DELAY_TAB[speed]; </a:t>
            </a:r>
            <a:r>
              <a:rPr sz="1700" b="0" dirty="0" err="1">
                <a:solidFill>
                  <a:srgbClr val="1A1A1A"/>
                </a:solidFill>
                <a:latin typeface="微软雅黑"/>
              </a:rPr>
              <a:t>i</a:t>
            </a:r>
            <a:r>
              <a:rPr sz="1700" b="0" dirty="0">
                <a:solidFill>
                  <a:srgbClr val="1A1A1A"/>
                </a:solidFill>
                <a:latin typeface="微软雅黑"/>
              </a:rPr>
              <a:t>++)</a:t>
            </a:r>
          </a:p>
          <a:p>
            <a:pPr algn="l">
              <a:lnSpc>
                <a:spcPct val="135000"/>
              </a:lnSpc>
            </a:pPr>
            <a:r>
              <a:rPr sz="1700" b="0" dirty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700" b="1" dirty="0">
                <a:solidFill>
                  <a:srgbClr val="A03020"/>
                </a:solidFill>
                <a:latin typeface="微软雅黑"/>
              </a:rPr>
              <a:t> </a:t>
            </a:r>
            <a:r>
              <a:rPr sz="1700" b="1" dirty="0" err="1">
                <a:solidFill>
                  <a:srgbClr val="A03020"/>
                </a:solidFill>
                <a:latin typeface="微软雅黑"/>
              </a:rPr>
              <a:t>主循环中未出现任何档位判断语句。函数每次调用都会重新读取</a:t>
            </a:r>
            <a:r>
              <a:rPr sz="1700" b="1" dirty="0">
                <a:solidFill>
                  <a:srgbClr val="A03020"/>
                </a:solidFill>
                <a:latin typeface="微软雅黑"/>
              </a:rPr>
              <a:t> speed,</a:t>
            </a:r>
          </a:p>
          <a:p>
            <a:pPr algn="l">
              <a:lnSpc>
                <a:spcPct val="135000"/>
              </a:lnSpc>
            </a:pPr>
            <a:r>
              <a:rPr sz="1700" b="1" dirty="0">
                <a:solidFill>
                  <a:srgbClr val="A03020"/>
                </a:solidFill>
                <a:latin typeface="微软雅黑"/>
              </a:rPr>
              <a:t> </a:t>
            </a:r>
            <a:r>
              <a:rPr sz="1700" b="1" dirty="0" err="1">
                <a:solidFill>
                  <a:srgbClr val="A03020"/>
                </a:solidFill>
                <a:latin typeface="微软雅黑"/>
              </a:rPr>
              <a:t>中断修改后,下一轮循环自动采用新参数</a:t>
            </a:r>
            <a:r>
              <a:rPr sz="1700" b="1" dirty="0">
                <a:solidFill>
                  <a:srgbClr val="A03020"/>
                </a:solidFill>
                <a:latin typeface="微软雅黑"/>
              </a:rPr>
              <a:t>。</a:t>
            </a:r>
          </a:p>
          <a:p>
            <a:pPr algn="l">
              <a:lnSpc>
                <a:spcPct val="135000"/>
              </a:lnSpc>
            </a:pPr>
            <a:r>
              <a:rPr sz="1700" b="0" dirty="0">
                <a:solidFill>
                  <a:srgbClr val="1A1A1A"/>
                </a:solidFill>
                <a:latin typeface="微软雅黑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8813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dirty="0" err="1">
                <a:solidFill>
                  <a:srgbClr val="1A1A1A"/>
                </a:solidFill>
                <a:latin typeface="微软雅黑"/>
              </a:rPr>
              <a:t>中断服务程序与主循环</a:t>
            </a:r>
            <a:endParaRPr sz="2800" b="0" dirty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500" b="0">
                <a:solidFill>
                  <a:srgbClr val="555555"/>
                </a:solidFill>
                <a:latin typeface="微软雅黑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203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de_ir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3017520" cy="31042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1051560"/>
            <a:ext cx="8092440" cy="5623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中断服务程序的声明形式: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 void int0_isr(void) interrupt 0 using 1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● interrupt 0 指定中断源为外部中断 0。编号对应关系为: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 0=INT0,1=定时器0,2=INT1,3=定时器1,4=串口。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 决定中断归属的是编号,与函数名无关。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● using 1 指定使用第 1 组工作寄存器。主程序使用第 0 组,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 两者互不影响,编译器无需额外保护现场,响应更快。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● 函数体仅包含三条语句:延时消抖、翻转 dir、等待按键释放。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主循环 main():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 TCON = 0x05 将两个外部中断设为下降沿触发;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 EX0、EX1、EA 依次使能;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 while(1) 中依次执行:延时、按 dir 选择移位方向、输出到 P1。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2000"/>
              </a:lnSpc>
            </a:pPr>
            <a:r>
              <a:rPr sz="1500" b="1">
                <a:solidFill>
                  <a:srgbClr val="A03020"/>
                </a:solidFill>
                <a:latin typeface="微软雅黑"/>
              </a:rPr>
              <a:t> 中断服务程序中没有输出语句,显示动作全部由主循环完成。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8813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dirty="0">
                <a:solidFill>
                  <a:srgbClr val="1A1A1A"/>
                </a:solidFill>
                <a:latin typeface="微软雅黑"/>
              </a:rPr>
              <a:t>LED </a:t>
            </a:r>
            <a:r>
              <a:rPr sz="2800" b="0" dirty="0" err="1">
                <a:solidFill>
                  <a:srgbClr val="1A1A1A"/>
                </a:solidFill>
                <a:latin typeface="微软雅黑"/>
              </a:rPr>
              <a:t>显示部分</a:t>
            </a:r>
            <a:endParaRPr sz="2800" b="0" dirty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500" b="0">
                <a:solidFill>
                  <a:srgbClr val="555555"/>
                </a:solidFill>
                <a:latin typeface="微软雅黑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203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46367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234440"/>
            <a:ext cx="53492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对应电路左侧部分: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① 连接方式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D1~D8 的阴极汇接至 +5V;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各阳极分别串联 220Ω 电阻,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再接入 P1.0~P1.7。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② 限流电阻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用于限制流过 LED 的电流。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串联 220Ω 后电流约 10mA,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处于 LED 的正常工作范围。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③ 点亮方式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采用低电平点亮,对应端口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输出 0 时该位 LED 导通发光。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8813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dirty="0" err="1">
                <a:solidFill>
                  <a:srgbClr val="1A1A1A"/>
                </a:solidFill>
                <a:latin typeface="微软雅黑"/>
              </a:rPr>
              <a:t>按键、时钟与复位</a:t>
            </a:r>
            <a:endParaRPr sz="2800" b="0" dirty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500" b="0">
                <a:solidFill>
                  <a:srgbClr val="555555"/>
                </a:solidFill>
                <a:latin typeface="微软雅黑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203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46367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234440"/>
            <a:ext cx="53492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对应电路右侧与顶部: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① 按键连接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K1 接 P3.2(第 12 脚),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K2 接 P3.3(第 13 脚),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另一端均接 GND。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② 上拉说明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P3 口内部具有弱上拉,未按下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时为高电平,按下后为低电平,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与程序中设置的下降沿触发一致,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无需外接上拉电阻。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③ 时钟与复位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12MHz 晶振接 XTAL1、XTAL2,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两端各接 22pF 电容接地;</a:t>
            </a:r>
          </a:p>
          <a:p>
            <a:pPr algn="l">
              <a:lnSpc>
                <a:spcPct val="128000"/>
              </a:lnSpc>
            </a:pPr>
            <a:r>
              <a:rPr sz="1400" b="0">
                <a:solidFill>
                  <a:srgbClr val="1A1A1A"/>
                </a:solidFill>
                <a:latin typeface="微软雅黑"/>
              </a:rPr>
              <a:t>   RST 由 10uF 与 10k 构成复位电路。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8813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1A1A1A"/>
                </a:solidFill>
                <a:latin typeface="微软雅黑"/>
              </a:rPr>
              <a:t>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500" b="0">
                <a:solidFill>
                  <a:srgbClr val="555555"/>
                </a:solidFill>
                <a:latin typeface="微软雅黑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203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800" b="0" dirty="0">
                <a:solidFill>
                  <a:srgbClr val="1A1A1A"/>
                </a:solidFill>
                <a:latin typeface="微软雅黑"/>
              </a:rPr>
              <a:t>● </a:t>
            </a:r>
            <a:r>
              <a:rPr sz="1800" b="0" dirty="0" err="1">
                <a:solidFill>
                  <a:srgbClr val="1A1A1A"/>
                </a:solidFill>
                <a:latin typeface="微软雅黑"/>
              </a:rPr>
              <a:t>按键采用中断方式处理,响应不受主循环周期限制,空闲时不占用</a:t>
            </a:r>
            <a:r>
              <a:rPr sz="1800" b="0" dirty="0">
                <a:solidFill>
                  <a:srgbClr val="1A1A1A"/>
                </a:solidFill>
                <a:latin typeface="微软雅黑"/>
              </a:rPr>
              <a:t> CPU。</a:t>
            </a:r>
          </a:p>
          <a:p>
            <a:pPr algn="l">
              <a:lnSpc>
                <a:spcPct val="145000"/>
              </a:lnSpc>
            </a:pPr>
            <a:r>
              <a:rPr sz="1800" b="0" dirty="0">
                <a:solidFill>
                  <a:srgbClr val="1A1A1A"/>
                </a:solidFill>
                <a:latin typeface="微软雅黑"/>
              </a:rPr>
              <a:t>● </a:t>
            </a:r>
            <a:r>
              <a:rPr sz="1800" b="0" dirty="0" err="1">
                <a:solidFill>
                  <a:srgbClr val="1A1A1A"/>
                </a:solidFill>
                <a:latin typeface="微软雅黑"/>
              </a:rPr>
              <a:t>中断仅修改状态标志,输出动作由主循环完成,结构清晰且便于维护</a:t>
            </a:r>
            <a:r>
              <a:rPr sz="1800" b="0" dirty="0">
                <a:solidFill>
                  <a:srgbClr val="1A1A1A"/>
                </a:solidFill>
                <a:latin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800" b="0" dirty="0">
                <a:solidFill>
                  <a:srgbClr val="1A1A1A"/>
                </a:solidFill>
                <a:latin typeface="微软雅黑"/>
              </a:rPr>
              <a:t>● using </a:t>
            </a:r>
            <a:r>
              <a:rPr sz="1800" b="0" dirty="0" err="1">
                <a:solidFill>
                  <a:srgbClr val="1A1A1A"/>
                </a:solidFill>
                <a:latin typeface="微软雅黑"/>
              </a:rPr>
              <a:t>指定独立寄存器组,省去中断现场保护的开销</a:t>
            </a:r>
            <a:r>
              <a:rPr sz="1800" b="0" dirty="0">
                <a:solidFill>
                  <a:srgbClr val="1A1A1A"/>
                </a:solidFill>
                <a:latin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800" b="0" dirty="0">
                <a:solidFill>
                  <a:srgbClr val="1A1A1A"/>
                </a:solidFill>
                <a:latin typeface="微软雅黑"/>
              </a:rPr>
              <a:t>● </a:t>
            </a:r>
            <a:r>
              <a:rPr sz="1800" b="0" dirty="0" err="1">
                <a:solidFill>
                  <a:srgbClr val="1A1A1A"/>
                </a:solidFill>
                <a:latin typeface="微软雅黑"/>
              </a:rPr>
              <a:t>消抖分两步:短延时避开抖动区间,再等待按键释放防止重复触发</a:t>
            </a:r>
            <a:r>
              <a:rPr sz="1800" b="0" dirty="0">
                <a:solidFill>
                  <a:srgbClr val="1A1A1A"/>
                </a:solidFill>
                <a:latin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1A1A1A"/>
                </a:solidFill>
                <a:latin typeface="微软雅黑"/>
              </a:rPr>
              <a:t> </a:t>
            </a:r>
            <a:endParaRPr sz="1800" b="0" dirty="0">
              <a:solidFill>
                <a:srgbClr val="1A1A1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495</Words>
  <Application>Microsoft Office PowerPoint</Application>
  <PresentationFormat>宽屏</PresentationFormat>
  <Paragraphs>107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恺乐 顾</cp:lastModifiedBy>
  <cp:revision>4</cp:revision>
  <dcterms:created xsi:type="dcterms:W3CDTF">2013-01-27T09:14:16Z</dcterms:created>
  <dcterms:modified xsi:type="dcterms:W3CDTF">2026-10-20T03:01:22Z</dcterms:modified>
  <cp:category/>
</cp:coreProperties>
</file>